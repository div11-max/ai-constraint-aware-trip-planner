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Cost vs Time: Dijkstra vs Constraint-Aware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Cost (Dijkstra)</c:v>
                </c:pt>
              </c:strCache>
            </c:strRef>
          </c:tx>
          <c:spPr>
            <a:solidFill>
              <a:srgbClr val="1048A0"/>
            </a:solidFill>
            <a:ln w="31750" cap="flat">
              <a:solidFill>
                <a:srgbClr val="1048A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048A0"/>
              </a:solidFill>
              <a:ln w="9525" cap="flat">
                <a:solidFill>
                  <a:srgbClr val="1048A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R1</c:v>
                  </c:pt>
                  <c:pt idx="1">
                    <c:v>R2</c:v>
                  </c:pt>
                  <c:pt idx="2">
                    <c:v>R3</c:v>
                  </c:pt>
                  <c:pt idx="3">
                    <c:v>R4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480</c:v>
                </c:pt>
                <c:pt idx="1">
                  <c:v>390</c:v>
                </c:pt>
                <c:pt idx="2">
                  <c:v>310</c:v>
                </c:pt>
                <c:pt idx="3">
                  <c:v>270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Cost (Constraint)</c:v>
                </c:pt>
              </c:strCache>
            </c:strRef>
          </c:tx>
          <c:spPr>
            <a:solidFill>
              <a:srgbClr val="0D9488"/>
            </a:solidFill>
            <a:ln w="31750" cap="flat">
              <a:solidFill>
                <a:srgbClr val="0D948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D9488"/>
              </a:solidFill>
              <a:ln w="9525" cap="flat">
                <a:solidFill>
                  <a:srgbClr val="0D948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R1</c:v>
                  </c:pt>
                  <c:pt idx="1">
                    <c:v>R2</c:v>
                  </c:pt>
                  <c:pt idx="2">
                    <c:v>R3</c:v>
                  </c:pt>
                  <c:pt idx="3">
                    <c:v>R4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410</c:v>
                </c:pt>
                <c:pt idx="1">
                  <c:v>340</c:v>
                </c:pt>
                <c:pt idx="2">
                  <c:v>280</c:v>
                </c:pt>
                <c:pt idx="3">
                  <c:v>240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Time (Dijkstra)</c:v>
                </c:pt>
              </c:strCache>
            </c:strRef>
          </c:tx>
          <c:spPr>
            <a:solidFill>
              <a:srgbClr val="A3BFFA"/>
            </a:solidFill>
            <a:ln w="31750" cap="flat">
              <a:solidFill>
                <a:srgbClr val="A3BFF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A3BFFA"/>
              </a:solidFill>
              <a:ln w="9525" cap="flat">
                <a:solidFill>
                  <a:srgbClr val="A3BFF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R1</c:v>
                  </c:pt>
                  <c:pt idx="1">
                    <c:v>R2</c:v>
                  </c:pt>
                  <c:pt idx="2">
                    <c:v>R3</c:v>
                  </c:pt>
                  <c:pt idx="3">
                    <c:v>R4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200</c:v>
                </c:pt>
                <c:pt idx="1">
                  <c:v>210</c:v>
                </c:pt>
                <c:pt idx="2">
                  <c:v>220</c:v>
                </c:pt>
                <c:pt idx="3">
                  <c:v>205</c:v>
                </c:pt>
              </c:numCache>
            </c:numRef>
          </c:val>
          <c:smooth val="1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Time (Constraint)</c:v>
                </c:pt>
              </c:strCache>
            </c:strRef>
          </c:tx>
          <c:spPr>
            <a:solidFill>
              <a:srgbClr val="6EE7B7"/>
            </a:solidFill>
            <a:ln w="31750" cap="flat">
              <a:solidFill>
                <a:srgbClr val="6EE7B7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6EE7B7"/>
              </a:solidFill>
              <a:ln w="9525" cap="flat">
                <a:solidFill>
                  <a:srgbClr val="6EE7B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R1</c:v>
                  </c:pt>
                  <c:pt idx="1">
                    <c:v>R2</c:v>
                  </c:pt>
                  <c:pt idx="2">
                    <c:v>R3</c:v>
                  </c:pt>
                  <c:pt idx="3">
                    <c:v>R4</c:v>
                  </c:pt>
                </c:lvl>
              </c:multiLvlStrCache>
            </c:multiLvl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230</c:v>
                </c:pt>
                <c:pt idx="1">
                  <c:v>235</c:v>
                </c:pt>
                <c:pt idx="2">
                  <c:v>240</c:v>
                </c:pt>
                <c:pt idx="3">
                  <c:v>228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Feasible vs Infeasible Paths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Paths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A1F4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Total Paths</c:v>
                  </c:pt>
                  <c:pt idx="1">
                    <c:v>Feasible Paths</c:v>
                  </c:pt>
                  <c:pt idx="2">
                    <c:v>Rejected Paths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19</c:v>
                </c:pt>
                <c:pt idx="1">
                  <c:v>14</c:v>
                </c:pt>
                <c:pt idx="2">
                  <c:v>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A1F4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F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40080"/>
            <a:ext cx="84124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Constraint-Aware</a:t>
            </a:r>
            <a:endParaRPr lang="en-US" sz="3600" dirty="0"/>
          </a:p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Inter-City Trip Planner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365760" y="22860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Dynamic Re-Planning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297180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Divyanshu Patil  |  Parth Dhadke  |  Vivek Sondagar  |  Ribsun Yadav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338328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Mentor: Rama Varshney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37490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&amp; Engineering  ·  NMIMS Mumbai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" y="4315968"/>
            <a:ext cx="1600200" cy="256032"/>
          </a:xfrm>
          <a:prstGeom prst="roundRect">
            <a:avLst>
              <a:gd name="adj" fmla="val 14286"/>
            </a:avLst>
          </a:prstGeom>
          <a:solidFill>
            <a:srgbClr val="1048A0"/>
          </a:solidFill>
          <a:ln w="12700">
            <a:solidFill>
              <a:srgbClr val="1048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4315968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 Planning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039112" y="4315968"/>
            <a:ext cx="1600200" cy="256032"/>
          </a:xfrm>
          <a:prstGeom prst="roundRect">
            <a:avLst>
              <a:gd name="adj" fmla="val 14286"/>
            </a:avLst>
          </a:prstGeom>
          <a:solidFill>
            <a:srgbClr val="1048A0"/>
          </a:solidFill>
          <a:ln w="12700">
            <a:solidFill>
              <a:srgbClr val="1048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39112" y="4315968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Algorithms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758184" y="4315968"/>
            <a:ext cx="1600200" cy="256032"/>
          </a:xfrm>
          <a:prstGeom prst="roundRect">
            <a:avLst>
              <a:gd name="adj" fmla="val 14286"/>
            </a:avLst>
          </a:prstGeom>
          <a:solidFill>
            <a:srgbClr val="1048A0"/>
          </a:solidFill>
          <a:ln w="12700">
            <a:solidFill>
              <a:srgbClr val="1048A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58184" y="4315968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 Satisfaction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477256" y="4315968"/>
            <a:ext cx="1600200" cy="256032"/>
          </a:xfrm>
          <a:prstGeom prst="roundRect">
            <a:avLst>
              <a:gd name="adj" fmla="val 14286"/>
            </a:avLst>
          </a:prstGeom>
          <a:solidFill>
            <a:srgbClr val="1048A0"/>
          </a:solidFill>
          <a:ln w="12700">
            <a:solidFill>
              <a:srgbClr val="1048A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77256" y="4315968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Routing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7196328" y="4315968"/>
            <a:ext cx="1600200" cy="256032"/>
          </a:xfrm>
          <a:prstGeom prst="roundRect">
            <a:avLst>
              <a:gd name="adj" fmla="val 14286"/>
            </a:avLst>
          </a:prstGeom>
          <a:solidFill>
            <a:srgbClr val="1048A0"/>
          </a:solidFill>
          <a:ln w="12700">
            <a:solidFill>
              <a:srgbClr val="1048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96328" y="4315968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F4E"/>
          </a:solidFill>
          <a:ln w="12700">
            <a:solidFill>
              <a:srgbClr val="0A1F4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402336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68680"/>
            <a:ext cx="4023360" cy="347472"/>
          </a:xfrm>
          <a:prstGeom prst="rect">
            <a:avLst/>
          </a:prstGeom>
          <a:solidFill>
            <a:srgbClr val="1048A0"/>
          </a:solidFill>
          <a:ln w="12700">
            <a:solidFill>
              <a:srgbClr val="1048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86868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Traditional Route Planners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298448"/>
            <a:ext cx="36576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Chase only the shortest or fastest route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Ignore fuel costs, tolls, and driver fatigue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support for fixed budgets or arrival deadlines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plans that collapse on real roads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Single-objective: either time OR cost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754880" y="868680"/>
            <a:ext cx="41148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868680"/>
            <a:ext cx="411480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00600" y="86868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Our Approach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92040" y="1298448"/>
            <a:ext cx="384048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graph models of real transport networks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 (budget, time, fatigue) built into path logic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Multi-objective optimization (cost vs time)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re-planning when conditions change mid-trip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validation before outputting any route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F4E"/>
          </a:solidFill>
          <a:ln w="12700">
            <a:solidFill>
              <a:srgbClr val="0A1F4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41148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68680"/>
            <a:ext cx="109728" cy="1234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91440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38912" y="1124712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Dijkstra's Algorithm (1959)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38912" y="1417320"/>
            <a:ext cx="3840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Foundational single-source shortest path; GPS relies on it. Limited with external constraints.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0" y="868680"/>
            <a:ext cx="41148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868680"/>
            <a:ext cx="109728" cy="1234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19472" y="91440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919472" y="1124712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A* Search (Hart et al., 1968)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919472" y="1417320"/>
            <a:ext cx="3840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Heuristic-guided search — faster and accurate for large-scale environments.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2258568"/>
            <a:ext cx="41148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258568"/>
            <a:ext cx="109728" cy="1234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2304288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38912" y="251460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Resource-Constrained SP (Desrochers, 1988)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38912" y="2807208"/>
            <a:ext cx="3840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Paths that bend when budgets shrink or time windows close — basis for our constraint engine.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54880" y="2258568"/>
            <a:ext cx="41148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2258568"/>
            <a:ext cx="109728" cy="1234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19472" y="2304288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919472" y="251460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Multi-Objective Optimization (Ehrgott, 2004)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919472" y="2807208"/>
            <a:ext cx="3840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Pareto-front solutions balancing competing goals; trade-offs between cost and time.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" y="3648456"/>
            <a:ext cx="41148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3648456"/>
            <a:ext cx="109728" cy="1234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8912" y="3694176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38912" y="390448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Transportation Network Optimization (Bast et al., 2016)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38912" y="4197096"/>
            <a:ext cx="3840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planning in large real-world transit networks with live data.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54880" y="3648456"/>
            <a:ext cx="41148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3648456"/>
            <a:ext cx="109728" cy="1234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19472" y="3694176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919472" y="390448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Multi-Constraint Routing (Handler &amp; Zang, 1979)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919472" y="4197096"/>
            <a:ext cx="3840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algorithm for constrained shortest path — backbone of our constraint validator.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F4E"/>
          </a:solidFill>
          <a:ln w="12700">
            <a:solidFill>
              <a:srgbClr val="0A1F4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56032" y="868680"/>
            <a:ext cx="1508760" cy="1325880"/>
          </a:xfrm>
          <a:prstGeom prst="rect">
            <a:avLst/>
          </a:prstGeom>
          <a:solidFill>
            <a:srgbClr val="1048A0"/>
          </a:solidFill>
          <a:ln w="12700">
            <a:solidFill>
              <a:srgbClr val="1048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56032" y="914400"/>
            <a:ext cx="1508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56032" y="1719072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+ Parsing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764792" y="1536192"/>
            <a:ext cx="228600" cy="0"/>
          </a:xfrm>
          <a:prstGeom prst="line">
            <a:avLst/>
          </a:prstGeom>
          <a:noFill/>
          <a:ln w="25400">
            <a:solidFill>
              <a:srgbClr val="0A1F4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993392" y="868680"/>
            <a:ext cx="1508760" cy="13258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993392" y="914400"/>
            <a:ext cx="1508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993392" y="1719072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Nodes, Edges, Weights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502152" y="1536192"/>
            <a:ext cx="228600" cy="0"/>
          </a:xfrm>
          <a:prstGeom prst="line">
            <a:avLst/>
          </a:prstGeom>
          <a:noFill/>
          <a:ln w="25400">
            <a:solidFill>
              <a:srgbClr val="0A1F4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730752" y="868680"/>
            <a:ext cx="1508760" cy="1325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730752" y="914400"/>
            <a:ext cx="1508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730752" y="1719072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Budget, Time, Fatigue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239512" y="1536192"/>
            <a:ext cx="228600" cy="0"/>
          </a:xfrm>
          <a:prstGeom prst="line">
            <a:avLst/>
          </a:prstGeom>
          <a:noFill/>
          <a:ln w="25400">
            <a:solidFill>
              <a:srgbClr val="0A1F4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68112" y="868680"/>
            <a:ext cx="1508760" cy="1325880"/>
          </a:xfrm>
          <a:prstGeom prst="rect">
            <a:avLst/>
          </a:prstGeom>
          <a:solidFill>
            <a:srgbClr val="0D7A6F"/>
          </a:solidFill>
          <a:ln w="12700">
            <a:solidFill>
              <a:srgbClr val="0D7A6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468112" y="914400"/>
            <a:ext cx="1508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68112" y="1719072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Dijkstra + A*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976872" y="1536192"/>
            <a:ext cx="228600" cy="0"/>
          </a:xfrm>
          <a:prstGeom prst="line">
            <a:avLst/>
          </a:prstGeom>
          <a:noFill/>
          <a:ln w="25400">
            <a:solidFill>
              <a:srgbClr val="0A1F4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05472" y="868680"/>
            <a:ext cx="1508760" cy="1325880"/>
          </a:xfrm>
          <a:prstGeom prst="rect">
            <a:avLst/>
          </a:prstGeom>
          <a:solidFill>
            <a:srgbClr val="157A5E"/>
          </a:solidFill>
          <a:ln w="12700">
            <a:solidFill>
              <a:srgbClr val="157A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205472" y="914400"/>
            <a:ext cx="1508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Validator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205472" y="1719072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Check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56032" y="2423160"/>
            <a:ext cx="1508760" cy="132588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256032" y="2468880"/>
            <a:ext cx="1508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56032" y="3273552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Multi-Objective Opt.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764792" y="3090672"/>
            <a:ext cx="228600" cy="0"/>
          </a:xfrm>
          <a:prstGeom prst="line">
            <a:avLst/>
          </a:prstGeom>
          <a:noFill/>
          <a:ln w="25400">
            <a:solidFill>
              <a:srgbClr val="0A1F4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993392" y="2423160"/>
            <a:ext cx="1508760" cy="13258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1993392" y="2468880"/>
            <a:ext cx="1508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Generator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993392" y="3273552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Relax Constraints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502152" y="3090672"/>
            <a:ext cx="228600" cy="0"/>
          </a:xfrm>
          <a:prstGeom prst="line">
            <a:avLst/>
          </a:prstGeom>
          <a:noFill/>
          <a:ln w="25400">
            <a:solidFill>
              <a:srgbClr val="0A1F4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730752" y="2423160"/>
            <a:ext cx="1508760" cy="1325880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730752" y="2468880"/>
            <a:ext cx="1508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Re-Planning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730752" y="3273552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D* Lite / LPA*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239512" y="3090672"/>
            <a:ext cx="228600" cy="0"/>
          </a:xfrm>
          <a:prstGeom prst="line">
            <a:avLst/>
          </a:prstGeom>
          <a:noFill/>
          <a:ln w="25400">
            <a:solidFill>
              <a:srgbClr val="0A1F4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468112" y="2423160"/>
            <a:ext cx="1508760" cy="132588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5468112" y="2468880"/>
            <a:ext cx="1508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468112" y="3273552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+ Cost + Time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976872" y="3090672"/>
            <a:ext cx="228600" cy="0"/>
          </a:xfrm>
          <a:prstGeom prst="line">
            <a:avLst/>
          </a:prstGeom>
          <a:noFill/>
          <a:ln w="25400">
            <a:solidFill>
              <a:srgbClr val="0A1F4E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205472" y="2423160"/>
            <a:ext cx="1508760" cy="1325880"/>
          </a:xfrm>
          <a:prstGeom prst="rect">
            <a:avLst/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7205472" y="2468880"/>
            <a:ext cx="1508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7205472" y="3273552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 + Violations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1764792" y="2194560"/>
            <a:ext cx="0" cy="228600"/>
          </a:xfrm>
          <a:prstGeom prst="line">
            <a:avLst/>
          </a:prstGeom>
          <a:noFill/>
          <a:ln w="25400">
            <a:solidFill>
              <a:srgbClr val="0A1F4E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74320" y="3931920"/>
            <a:ext cx="8595360" cy="822960"/>
          </a:xfrm>
          <a:prstGeom prst="rect">
            <a:avLst/>
          </a:prstGeom>
          <a:solidFill>
            <a:srgbClr val="0A1F4E"/>
          </a:solidFill>
          <a:ln w="12700">
            <a:solidFill>
              <a:srgbClr val="0A1F4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274320" y="3931920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Inputs: User Preferences  ·  Road Network Graph  ·  Fuel Cost Model  ·  Traffic / Weather Data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F4E"/>
          </a:solidFill>
          <a:ln w="12700">
            <a:solidFill>
              <a:srgbClr val="0A1F4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Design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754880" cy="3977640"/>
          </a:xfrm>
          <a:prstGeom prst="rect">
            <a:avLst/>
          </a:prstGeom>
          <a:solidFill>
            <a:srgbClr val="0F172A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841248"/>
            <a:ext cx="4663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Constraint-Aware Dijkstra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207008"/>
            <a:ext cx="4572000" cy="0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261872"/>
            <a:ext cx="461772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Initialize dist[v] = ∞ for all v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 dist[s] = 0, time[s] = 0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Insert (s, 0) into priority queue Q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Q is not empty: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 ← extract min-cost from Q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u = destination → return path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 each neighbor v of u: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newCost = dist[u] + c(u,v)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newTime = time[u] + t(u,v)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newCost ≤ B AND newTime ≤ Tmax: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If newCost &lt; dist[v]: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Update dist[v], time[v]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Insert (v, newCost) into Q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no feasible path → return failure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303520" y="822960"/>
            <a:ext cx="35661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303520" y="822960"/>
            <a:ext cx="3566160" cy="329184"/>
          </a:xfrm>
          <a:prstGeom prst="rect">
            <a:avLst/>
          </a:prstGeom>
          <a:solidFill>
            <a:srgbClr val="1048A0"/>
          </a:solidFill>
          <a:ln w="12700">
            <a:solidFill>
              <a:srgbClr val="1048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49240" y="822960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40680" y="1207008"/>
            <a:ext cx="33375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F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Time:  </a:t>
            </a:r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O((V + E) log V)
</a:t>
            </a:r>
            <a:pPr indent="0" marL="0">
              <a:buNone/>
            </a:pPr>
            <a:r>
              <a:rPr lang="en-US" sz="1400" b="1" dirty="0">
                <a:solidFill>
                  <a:srgbClr val="0A1F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Space: </a:t>
            </a:r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O(V)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303520" y="2743200"/>
            <a:ext cx="35661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303520" y="2743200"/>
            <a:ext cx="411480" cy="685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03520" y="2743200"/>
            <a:ext cx="411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779008" y="278892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Constraint-Aware Routing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779008" y="306324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&amp; time checked at each hop [6]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303520" y="3520440"/>
            <a:ext cx="35661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303520" y="3520440"/>
            <a:ext cx="411480" cy="685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03520" y="3520440"/>
            <a:ext cx="411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779008" y="356616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Multi-Criteria Handling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779008" y="38404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+ time weighed simultaneously [3]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303520" y="4297680"/>
            <a:ext cx="35661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303520" y="4297680"/>
            <a:ext cx="411480" cy="685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03520" y="4297680"/>
            <a:ext cx="411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✂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779008" y="434340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 Pruning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779008" y="461772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Infeasible paths eliminated early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F4E"/>
          </a:solidFill>
          <a:ln w="12700">
            <a:solidFill>
              <a:srgbClr val="0A1F4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Analysis</a:t>
            </a:r>
            <a:endParaRPr lang="en-US" sz="2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822960"/>
          <a:ext cx="484632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5257800" y="822960"/>
          <a:ext cx="361188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Shape 2"/>
          <p:cNvSpPr/>
          <p:nvPr/>
        </p:nvSpPr>
        <p:spPr>
          <a:xfrm>
            <a:off x="274320" y="3886200"/>
            <a:ext cx="27432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3"/>
          <p:cNvSpPr/>
          <p:nvPr/>
        </p:nvSpPr>
        <p:spPr>
          <a:xfrm>
            <a:off x="274320" y="3886200"/>
            <a:ext cx="2743200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274320" y="388620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Key Finding 1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347472" y="4206240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Paths stay within budget &amp; time limits — guaranteed constraint satisfaction [6]</a:t>
            </a:r>
            <a:endParaRPr lang="en-US" sz="950" dirty="0"/>
          </a:p>
        </p:txBody>
      </p:sp>
      <p:sp>
        <p:nvSpPr>
          <p:cNvPr id="10" name="Shape 6"/>
          <p:cNvSpPr/>
          <p:nvPr/>
        </p:nvSpPr>
        <p:spPr>
          <a:xfrm>
            <a:off x="3218688" y="3886200"/>
            <a:ext cx="27432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3218688" y="3886200"/>
            <a:ext cx="2743200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3218688" y="388620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Key Finding 2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3291840" y="4206240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Extended Dijkstra stays near O((V+E) log V) speed despite added rule checks [8]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6163056" y="3886200"/>
            <a:ext cx="27432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163056" y="3886200"/>
            <a:ext cx="2743200" cy="292608"/>
          </a:xfrm>
          <a:prstGeom prst="rect">
            <a:avLst/>
          </a:prstGeom>
          <a:solidFill>
            <a:srgbClr val="1048A0"/>
          </a:solidFill>
          <a:ln w="12700">
            <a:solidFill>
              <a:srgbClr val="1048A0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163056" y="388620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Key Finding 3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6236208" y="4206240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Outperforms single-objective planners on real-world scenarios with user constraints [4]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F4E"/>
          </a:solidFill>
          <a:ln w="12700">
            <a:solidFill>
              <a:srgbClr val="0A1F4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Encountered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11480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22960"/>
            <a:ext cx="594360" cy="1965960"/>
          </a:xfrm>
          <a:prstGeom prst="rect">
            <a:avLst/>
          </a:prstGeom>
          <a:solidFill>
            <a:srgbClr val="1048A0"/>
          </a:solidFill>
          <a:ln w="12700">
            <a:solidFill>
              <a:srgbClr val="1048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325880"/>
            <a:ext cx="594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60120" y="960120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4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Multi-Constraint Complexity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0120" y="1371600"/>
            <a:ext cx="33375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budget AND time simultaneously forced smarter memory management; classic single-objective methods failed immediately.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822960"/>
            <a:ext cx="411480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822960"/>
            <a:ext cx="594360" cy="19659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1325880"/>
            <a:ext cx="594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440680" y="960120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vs Correctness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40680" y="1371600"/>
            <a:ext cx="33375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node needed multiple constraint clearances before advancing — dragged performance. Solved by adjusting task order and instant updates.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2971800"/>
            <a:ext cx="411480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971800"/>
            <a:ext cx="594360" cy="196596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3474720"/>
            <a:ext cx="594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960120" y="3108960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Disconnected Graph Scenarios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60120" y="3520440"/>
            <a:ext cx="33375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source-destination links collapse, the system must respond gracefully — not crash. Robust edge-case handling was engineered.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2971800"/>
            <a:ext cx="411480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2971800"/>
            <a:ext cx="594360" cy="1965960"/>
          </a:xfrm>
          <a:prstGeom prst="rect">
            <a:avLst/>
          </a:prstGeom>
          <a:solidFill>
            <a:srgbClr val="1048A0"/>
          </a:solidFill>
          <a:ln w="12700">
            <a:solidFill>
              <a:srgbClr val="1048A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3474720"/>
            <a:ext cx="594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440680" y="3108960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4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&amp; Time Tracking Accuracy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40680" y="3520440"/>
            <a:ext cx="33375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Subtle bugs crept into later calculations when adjustments missed their mark across different datasets — caught through extensive QA cycles.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F4E"/>
          </a:solidFill>
          <a:ln w="12700">
            <a:solidFill>
              <a:srgbClr val="0A1F4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Work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114800" cy="3931920"/>
          </a:xfrm>
          <a:prstGeom prst="rect">
            <a:avLst/>
          </a:prstGeom>
          <a:solidFill>
            <a:srgbClr val="0A1F4E"/>
          </a:solidFill>
          <a:ln w="12700">
            <a:solidFill>
              <a:srgbClr val="0A1F4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86868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11480" y="1261872"/>
            <a:ext cx="388620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15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 trip planner built on extended Dijkstra with real-world constraints baked in — not bolted on.</a:t>
            </a:r>
            <a:endParaRPr lang="en-US" sz="11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15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Multi-objective optimization balances cost and time through Pareto-front analysis.</a:t>
            </a:r>
            <a:endParaRPr lang="en-US" sz="11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15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Infeasible paths eliminated early — speed stays near O((V+E) log V).</a:t>
            </a:r>
            <a:endParaRPr lang="en-US" sz="11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15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Demonstrated clear improvement over single-objective planners in real-scenario testing.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709160" y="822960"/>
            <a:ext cx="41605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09160" y="822960"/>
            <a:ext cx="502920" cy="8686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09160" y="822960"/>
            <a:ext cx="502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285232" y="896112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Traffic Integration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285232" y="118872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re-routing as storms, roadblocks, and price shifts occur mid-trip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09160" y="1810512"/>
            <a:ext cx="41605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09160" y="1810512"/>
            <a:ext cx="502920" cy="8686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09160" y="1810512"/>
            <a:ext cx="502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285232" y="1883664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Recommendations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285232" y="2176272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models learn user travel habits to improve route suggestions over time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09160" y="2798064"/>
            <a:ext cx="41605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09160" y="2798064"/>
            <a:ext cx="502920" cy="8686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09160" y="2798064"/>
            <a:ext cx="502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285232" y="2871216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Cloud-Scale Deployment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285232" y="3163824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into large transportation data streams for real-world scalability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09160" y="3785616"/>
            <a:ext cx="41605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09160" y="3785616"/>
            <a:ext cx="502920" cy="8686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09160" y="3785616"/>
            <a:ext cx="502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285232" y="3858768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Routing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285232" y="4151376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versions to optimize for eco-impact alongside cost and time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F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0"/>
            <a:ext cx="8321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286000" y="2651760"/>
            <a:ext cx="4572000" cy="0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788920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Divyanshu Patil  ·  Parth Dhadke  ·  Vivek Sondagar  ·  Ribsun Yadav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3200400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Mentor: Rama Varshney  |  NMIMS Mumbai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371600" y="3611880"/>
            <a:ext cx="6400800" cy="822960"/>
          </a:xfrm>
          <a:prstGeom prst="rect">
            <a:avLst/>
          </a:prstGeom>
          <a:solidFill>
            <a:srgbClr val="132040"/>
          </a:solidFill>
          <a:ln w="12700">
            <a:solidFill>
              <a:srgbClr val="1048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17320" y="3639312"/>
            <a:ext cx="630936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0A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References: Dijkstra (1959) · Desrochers &amp; Soumis (1988) · Ehrgott &amp; Gandibleux (2004) · Bast et al. (2016) · Handler &amp; Zang (1979)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AI-Based Constraint-Aware Inter-City Trip Planner</dc:title>
  <dc:subject>PptxGenJS Presentation</dc:subject>
  <dc:creator>PptxGenJS</dc:creator>
  <cp:lastModifiedBy>PptxGenJS</cp:lastModifiedBy>
  <cp:revision>1</cp:revision>
  <dcterms:created xsi:type="dcterms:W3CDTF">2026-05-09T13:32:47Z</dcterms:created>
  <dcterms:modified xsi:type="dcterms:W3CDTF">2026-05-09T13:32:47Z</dcterms:modified>
</cp:coreProperties>
</file>